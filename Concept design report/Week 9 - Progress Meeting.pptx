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3CC4A9-8EE0-49E8-A866-7B6525DDA8BD}" v="37" dt="2026-04-21T13:22:09.4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60" d="100"/>
          <a:sy n="60" d="100"/>
        </p:scale>
        <p:origin x="908" y="4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microsoft.com/office/2015/10/relationships/revisionInfo" Target="revisionInfo.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2B596-C266-9E5A-1579-D4F3BB0B19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ZA"/>
          </a:p>
        </p:txBody>
      </p:sp>
      <p:sp>
        <p:nvSpPr>
          <p:cNvPr id="3" name="Subtitle 2">
            <a:extLst>
              <a:ext uri="{FF2B5EF4-FFF2-40B4-BE49-F238E27FC236}">
                <a16:creationId xmlns:a16="http://schemas.microsoft.com/office/drawing/2014/main" id="{DC8D463C-5F48-2F6B-CACF-77A75DBE4F7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ZA"/>
          </a:p>
        </p:txBody>
      </p:sp>
      <p:sp>
        <p:nvSpPr>
          <p:cNvPr id="4" name="Date Placeholder 3">
            <a:extLst>
              <a:ext uri="{FF2B5EF4-FFF2-40B4-BE49-F238E27FC236}">
                <a16:creationId xmlns:a16="http://schemas.microsoft.com/office/drawing/2014/main" id="{8F38539B-4961-6290-9B64-F7BF529679B6}"/>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5" name="Footer Placeholder 4">
            <a:extLst>
              <a:ext uri="{FF2B5EF4-FFF2-40B4-BE49-F238E27FC236}">
                <a16:creationId xmlns:a16="http://schemas.microsoft.com/office/drawing/2014/main" id="{6266EEA0-3A6E-90EA-7690-064146D1E85E}"/>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63D5E06A-BCDC-56C7-590D-1A487AF14632}"/>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332137038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7F18FA-9E2A-E798-BEFA-3ED908576487}"/>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6756998A-FB21-FE1E-1921-68F0608F9B4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0A4429E5-FCA9-375C-9A7E-E7AD608249C3}"/>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5" name="Footer Placeholder 4">
            <a:extLst>
              <a:ext uri="{FF2B5EF4-FFF2-40B4-BE49-F238E27FC236}">
                <a16:creationId xmlns:a16="http://schemas.microsoft.com/office/drawing/2014/main" id="{28A684E1-8DF0-C2AF-4029-C19FD1A350B3}"/>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7D8E91B8-1CC6-F432-B6F8-EB0E6DB450AA}"/>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135639162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55F97C-8D85-1B5E-D4D4-3A8F9B904DB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ZA"/>
          </a:p>
        </p:txBody>
      </p:sp>
      <p:sp>
        <p:nvSpPr>
          <p:cNvPr id="3" name="Text Placeholder 2">
            <a:extLst>
              <a:ext uri="{FF2B5EF4-FFF2-40B4-BE49-F238E27FC236}">
                <a16:creationId xmlns:a16="http://schemas.microsoft.com/office/drawing/2014/main" id="{230CEFB6-700E-0257-4637-F54D5109C46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A48389-E78D-AD05-D22C-D48359E6BD77}"/>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5" name="Footer Placeholder 4">
            <a:extLst>
              <a:ext uri="{FF2B5EF4-FFF2-40B4-BE49-F238E27FC236}">
                <a16:creationId xmlns:a16="http://schemas.microsoft.com/office/drawing/2014/main" id="{E5EA7B0A-53FC-10E0-E56D-55007BCFA30B}"/>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9D1F5C88-8FCB-6CEB-A36A-273C0EBBDF91}"/>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32693073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1F5B64-E4EE-A286-53DC-563FDA9F6E77}"/>
              </a:ext>
            </a:extLst>
          </p:cNvPr>
          <p:cNvSpPr>
            <a:spLocks noGrp="1"/>
          </p:cNvSpPr>
          <p:nvPr>
            <p:ph type="title"/>
          </p:nvPr>
        </p:nvSpPr>
        <p:spPr/>
        <p:txBody>
          <a:bodyPr/>
          <a:lstStyle/>
          <a:p>
            <a:r>
              <a:rPr lang="en-US"/>
              <a:t>Click to edit Master title style</a:t>
            </a:r>
            <a:endParaRPr lang="en-ZA"/>
          </a:p>
        </p:txBody>
      </p:sp>
      <p:sp>
        <p:nvSpPr>
          <p:cNvPr id="3" name="Content Placeholder 2">
            <a:extLst>
              <a:ext uri="{FF2B5EF4-FFF2-40B4-BE49-F238E27FC236}">
                <a16:creationId xmlns:a16="http://schemas.microsoft.com/office/drawing/2014/main" id="{3FBADF47-47E3-EB1A-7B05-F436097119C8}"/>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Content Placeholder 3">
            <a:extLst>
              <a:ext uri="{FF2B5EF4-FFF2-40B4-BE49-F238E27FC236}">
                <a16:creationId xmlns:a16="http://schemas.microsoft.com/office/drawing/2014/main" id="{6DFE8928-9101-CD66-C1DD-6E65DAE25A3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Date Placeholder 4">
            <a:extLst>
              <a:ext uri="{FF2B5EF4-FFF2-40B4-BE49-F238E27FC236}">
                <a16:creationId xmlns:a16="http://schemas.microsoft.com/office/drawing/2014/main" id="{11E6F218-5886-B718-EF8C-B6FEB9C431BD}"/>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6" name="Footer Placeholder 5">
            <a:extLst>
              <a:ext uri="{FF2B5EF4-FFF2-40B4-BE49-F238E27FC236}">
                <a16:creationId xmlns:a16="http://schemas.microsoft.com/office/drawing/2014/main" id="{E2C861F4-2856-7777-2EE5-C84A5D78D628}"/>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21AD5AB7-CC57-4C29-C2B1-913FB82D34E3}"/>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3555170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B3583-111A-616C-B668-F3AAD75EF1CC}"/>
              </a:ext>
            </a:extLst>
          </p:cNvPr>
          <p:cNvSpPr>
            <a:spLocks noGrp="1"/>
          </p:cNvSpPr>
          <p:nvPr>
            <p:ph type="title"/>
          </p:nvPr>
        </p:nvSpPr>
        <p:spPr>
          <a:xfrm>
            <a:off x="839788" y="365125"/>
            <a:ext cx="10515600" cy="1325563"/>
          </a:xfrm>
        </p:spPr>
        <p:txBody>
          <a:bodyPr/>
          <a:lstStyle/>
          <a:p>
            <a:r>
              <a:rPr lang="en-US"/>
              <a:t>Click to edit Master title style</a:t>
            </a:r>
            <a:endParaRPr lang="en-ZA"/>
          </a:p>
        </p:txBody>
      </p:sp>
      <p:sp>
        <p:nvSpPr>
          <p:cNvPr id="3" name="Text Placeholder 2">
            <a:extLst>
              <a:ext uri="{FF2B5EF4-FFF2-40B4-BE49-F238E27FC236}">
                <a16:creationId xmlns:a16="http://schemas.microsoft.com/office/drawing/2014/main" id="{10D096A6-43EC-282E-33C8-36A0C4E8F5A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0B9FE90-2E4A-6521-1594-59A90C041E6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5" name="Text Placeholder 4">
            <a:extLst>
              <a:ext uri="{FF2B5EF4-FFF2-40B4-BE49-F238E27FC236}">
                <a16:creationId xmlns:a16="http://schemas.microsoft.com/office/drawing/2014/main" id="{FB8869D5-D9EA-3C12-3BA5-C51BAD98516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EC2BE05-A212-23CE-52C0-E679A3337F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7" name="Date Placeholder 6">
            <a:extLst>
              <a:ext uri="{FF2B5EF4-FFF2-40B4-BE49-F238E27FC236}">
                <a16:creationId xmlns:a16="http://schemas.microsoft.com/office/drawing/2014/main" id="{D106E9D7-37EE-9747-8388-96FE5C82A0C5}"/>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8" name="Footer Placeholder 7">
            <a:extLst>
              <a:ext uri="{FF2B5EF4-FFF2-40B4-BE49-F238E27FC236}">
                <a16:creationId xmlns:a16="http://schemas.microsoft.com/office/drawing/2014/main" id="{BE8B8F07-1CD6-042D-CE35-B95C3021757A}"/>
              </a:ext>
            </a:extLst>
          </p:cNvPr>
          <p:cNvSpPr>
            <a:spLocks noGrp="1"/>
          </p:cNvSpPr>
          <p:nvPr>
            <p:ph type="ftr" sz="quarter" idx="11"/>
          </p:nvPr>
        </p:nvSpPr>
        <p:spPr/>
        <p:txBody>
          <a:bodyPr/>
          <a:lstStyle/>
          <a:p>
            <a:endParaRPr lang="en-ZA"/>
          </a:p>
        </p:txBody>
      </p:sp>
      <p:sp>
        <p:nvSpPr>
          <p:cNvPr id="9" name="Slide Number Placeholder 8">
            <a:extLst>
              <a:ext uri="{FF2B5EF4-FFF2-40B4-BE49-F238E27FC236}">
                <a16:creationId xmlns:a16="http://schemas.microsoft.com/office/drawing/2014/main" id="{68743B30-B3D2-8E5D-0AE9-4D47412EF06D}"/>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31675404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025B32-EBF0-0D6E-008C-0AC12510BA94}"/>
              </a:ext>
            </a:extLst>
          </p:cNvPr>
          <p:cNvSpPr>
            <a:spLocks noGrp="1"/>
          </p:cNvSpPr>
          <p:nvPr>
            <p:ph type="title"/>
          </p:nvPr>
        </p:nvSpPr>
        <p:spPr/>
        <p:txBody>
          <a:bodyPr/>
          <a:lstStyle/>
          <a:p>
            <a:r>
              <a:rPr lang="en-US"/>
              <a:t>Click to edit Master title style</a:t>
            </a:r>
            <a:endParaRPr lang="en-ZA"/>
          </a:p>
        </p:txBody>
      </p:sp>
      <p:sp>
        <p:nvSpPr>
          <p:cNvPr id="3" name="Date Placeholder 2">
            <a:extLst>
              <a:ext uri="{FF2B5EF4-FFF2-40B4-BE49-F238E27FC236}">
                <a16:creationId xmlns:a16="http://schemas.microsoft.com/office/drawing/2014/main" id="{0C63796A-A9A7-516C-1C4F-7104FD264539}"/>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4" name="Footer Placeholder 3">
            <a:extLst>
              <a:ext uri="{FF2B5EF4-FFF2-40B4-BE49-F238E27FC236}">
                <a16:creationId xmlns:a16="http://schemas.microsoft.com/office/drawing/2014/main" id="{50C684AF-F22B-9B7E-20A0-8A10D7EE7942}"/>
              </a:ext>
            </a:extLst>
          </p:cNvPr>
          <p:cNvSpPr>
            <a:spLocks noGrp="1"/>
          </p:cNvSpPr>
          <p:nvPr>
            <p:ph type="ftr" sz="quarter" idx="11"/>
          </p:nvPr>
        </p:nvSpPr>
        <p:spPr/>
        <p:txBody>
          <a:bodyPr/>
          <a:lstStyle/>
          <a:p>
            <a:endParaRPr lang="en-ZA"/>
          </a:p>
        </p:txBody>
      </p:sp>
      <p:sp>
        <p:nvSpPr>
          <p:cNvPr id="5" name="Slide Number Placeholder 4">
            <a:extLst>
              <a:ext uri="{FF2B5EF4-FFF2-40B4-BE49-F238E27FC236}">
                <a16:creationId xmlns:a16="http://schemas.microsoft.com/office/drawing/2014/main" id="{1AA22158-3F7E-9844-E0AC-79F5DC01E233}"/>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28901598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CC22281-D130-04F4-0A74-35BBD50CABAF}"/>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3" name="Footer Placeholder 2">
            <a:extLst>
              <a:ext uri="{FF2B5EF4-FFF2-40B4-BE49-F238E27FC236}">
                <a16:creationId xmlns:a16="http://schemas.microsoft.com/office/drawing/2014/main" id="{34343501-7CB2-B16E-55DD-FDCABA367FF6}"/>
              </a:ext>
            </a:extLst>
          </p:cNvPr>
          <p:cNvSpPr>
            <a:spLocks noGrp="1"/>
          </p:cNvSpPr>
          <p:nvPr>
            <p:ph type="ftr" sz="quarter" idx="11"/>
          </p:nvPr>
        </p:nvSpPr>
        <p:spPr/>
        <p:txBody>
          <a:bodyPr/>
          <a:lstStyle/>
          <a:p>
            <a:endParaRPr lang="en-ZA"/>
          </a:p>
        </p:txBody>
      </p:sp>
      <p:sp>
        <p:nvSpPr>
          <p:cNvPr id="4" name="Slide Number Placeholder 3">
            <a:extLst>
              <a:ext uri="{FF2B5EF4-FFF2-40B4-BE49-F238E27FC236}">
                <a16:creationId xmlns:a16="http://schemas.microsoft.com/office/drawing/2014/main" id="{6BB1CCFE-9B97-CA52-ABF6-91F981EFFC5C}"/>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115109235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11C507-360A-7FCD-CC5B-170F40C992C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Content Placeholder 2">
            <a:extLst>
              <a:ext uri="{FF2B5EF4-FFF2-40B4-BE49-F238E27FC236}">
                <a16:creationId xmlns:a16="http://schemas.microsoft.com/office/drawing/2014/main" id="{8868CE5F-A309-76CC-1AD0-181904EED28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Text Placeholder 3">
            <a:extLst>
              <a:ext uri="{FF2B5EF4-FFF2-40B4-BE49-F238E27FC236}">
                <a16:creationId xmlns:a16="http://schemas.microsoft.com/office/drawing/2014/main" id="{1E554065-9C47-5D1D-A9D2-5CB32DE95E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B736F2-9315-BF7B-1AC6-DE02B31129D6}"/>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6" name="Footer Placeholder 5">
            <a:extLst>
              <a:ext uri="{FF2B5EF4-FFF2-40B4-BE49-F238E27FC236}">
                <a16:creationId xmlns:a16="http://schemas.microsoft.com/office/drawing/2014/main" id="{9E2BD000-BEF8-1C1B-0175-98340A6F7B1B}"/>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7A2664FB-DA42-A491-4FAE-730BCED135C7}"/>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380387218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8C8C64-BA37-10C9-241C-32E6616EF14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ZA"/>
          </a:p>
        </p:txBody>
      </p:sp>
      <p:sp>
        <p:nvSpPr>
          <p:cNvPr id="3" name="Picture Placeholder 2">
            <a:extLst>
              <a:ext uri="{FF2B5EF4-FFF2-40B4-BE49-F238E27FC236}">
                <a16:creationId xmlns:a16="http://schemas.microsoft.com/office/drawing/2014/main" id="{CBA0A79C-7F53-E939-93AA-FE2E09E078C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ZA"/>
          </a:p>
        </p:txBody>
      </p:sp>
      <p:sp>
        <p:nvSpPr>
          <p:cNvPr id="4" name="Text Placeholder 3">
            <a:extLst>
              <a:ext uri="{FF2B5EF4-FFF2-40B4-BE49-F238E27FC236}">
                <a16:creationId xmlns:a16="http://schemas.microsoft.com/office/drawing/2014/main" id="{95FF48E0-5C32-00D5-664D-E30A3C20B7D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09B87D9-C9DC-6168-DBA9-AA1E67C8A537}"/>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6" name="Footer Placeholder 5">
            <a:extLst>
              <a:ext uri="{FF2B5EF4-FFF2-40B4-BE49-F238E27FC236}">
                <a16:creationId xmlns:a16="http://schemas.microsoft.com/office/drawing/2014/main" id="{F1BE59DF-B3FA-AE7A-FD9F-F97BB9CA181D}"/>
              </a:ext>
            </a:extLst>
          </p:cNvPr>
          <p:cNvSpPr>
            <a:spLocks noGrp="1"/>
          </p:cNvSpPr>
          <p:nvPr>
            <p:ph type="ftr" sz="quarter" idx="11"/>
          </p:nvPr>
        </p:nvSpPr>
        <p:spPr/>
        <p:txBody>
          <a:bodyPr/>
          <a:lstStyle/>
          <a:p>
            <a:endParaRPr lang="en-ZA"/>
          </a:p>
        </p:txBody>
      </p:sp>
      <p:sp>
        <p:nvSpPr>
          <p:cNvPr id="7" name="Slide Number Placeholder 6">
            <a:extLst>
              <a:ext uri="{FF2B5EF4-FFF2-40B4-BE49-F238E27FC236}">
                <a16:creationId xmlns:a16="http://schemas.microsoft.com/office/drawing/2014/main" id="{015E913C-6CA0-9026-C5FA-0023A67083F6}"/>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25246540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C9DFA3-071F-9495-7499-AC1A7AD94154}"/>
              </a:ext>
            </a:extLst>
          </p:cNvPr>
          <p:cNvSpPr>
            <a:spLocks noGrp="1"/>
          </p:cNvSpPr>
          <p:nvPr>
            <p:ph type="title"/>
          </p:nvPr>
        </p:nvSpPr>
        <p:spPr/>
        <p:txBody>
          <a:bodyPr/>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6E41E9DC-3DF4-3509-3464-5D26A338A1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75A31967-8714-58A1-3977-87CE2E6D3CBF}"/>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5" name="Footer Placeholder 4">
            <a:extLst>
              <a:ext uri="{FF2B5EF4-FFF2-40B4-BE49-F238E27FC236}">
                <a16:creationId xmlns:a16="http://schemas.microsoft.com/office/drawing/2014/main" id="{224A9D9E-F0B0-24F9-766A-E6626E6F4F42}"/>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735150DE-87DC-B989-50A2-3A4D194587E3}"/>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27956736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786F0FB-A406-A7E3-F6A3-920822C9B60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ZA"/>
          </a:p>
        </p:txBody>
      </p:sp>
      <p:sp>
        <p:nvSpPr>
          <p:cNvPr id="3" name="Vertical Text Placeholder 2">
            <a:extLst>
              <a:ext uri="{FF2B5EF4-FFF2-40B4-BE49-F238E27FC236}">
                <a16:creationId xmlns:a16="http://schemas.microsoft.com/office/drawing/2014/main" id="{72F8D7FD-501C-10BF-7D87-9DC390DAE16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FF074AE1-D7F4-3045-5EBE-4D56090EAFD8}"/>
              </a:ext>
            </a:extLst>
          </p:cNvPr>
          <p:cNvSpPr>
            <a:spLocks noGrp="1"/>
          </p:cNvSpPr>
          <p:nvPr>
            <p:ph type="dt" sz="half" idx="10"/>
          </p:nvPr>
        </p:nvSpPr>
        <p:spPr/>
        <p:txBody>
          <a:bodyPr/>
          <a:lstStyle/>
          <a:p>
            <a:fld id="{B31332A8-CEAE-4241-9842-981792316C5A}" type="datetimeFigureOut">
              <a:rPr lang="en-ZA" smtClean="0"/>
              <a:t>2026/04/21</a:t>
            </a:fld>
            <a:endParaRPr lang="en-ZA"/>
          </a:p>
        </p:txBody>
      </p:sp>
      <p:sp>
        <p:nvSpPr>
          <p:cNvPr id="5" name="Footer Placeholder 4">
            <a:extLst>
              <a:ext uri="{FF2B5EF4-FFF2-40B4-BE49-F238E27FC236}">
                <a16:creationId xmlns:a16="http://schemas.microsoft.com/office/drawing/2014/main" id="{101AA65D-6496-726C-737B-BBDCB0A51BB6}"/>
              </a:ext>
            </a:extLst>
          </p:cNvPr>
          <p:cNvSpPr>
            <a:spLocks noGrp="1"/>
          </p:cNvSpPr>
          <p:nvPr>
            <p:ph type="ftr" sz="quarter" idx="11"/>
          </p:nvPr>
        </p:nvSpPr>
        <p:spPr/>
        <p:txBody>
          <a:bodyPr/>
          <a:lstStyle/>
          <a:p>
            <a:endParaRPr lang="en-ZA"/>
          </a:p>
        </p:txBody>
      </p:sp>
      <p:sp>
        <p:nvSpPr>
          <p:cNvPr id="6" name="Slide Number Placeholder 5">
            <a:extLst>
              <a:ext uri="{FF2B5EF4-FFF2-40B4-BE49-F238E27FC236}">
                <a16:creationId xmlns:a16="http://schemas.microsoft.com/office/drawing/2014/main" id="{4B0A1A77-A1B6-998F-35C7-AB4B06E60CB0}"/>
              </a:ext>
            </a:extLst>
          </p:cNvPr>
          <p:cNvSpPr>
            <a:spLocks noGrp="1"/>
          </p:cNvSpPr>
          <p:nvPr>
            <p:ph type="sldNum" sz="quarter" idx="12"/>
          </p:nvPr>
        </p:nvSpPr>
        <p:spPr/>
        <p:txBody>
          <a:bodyPr/>
          <a:lstStyle/>
          <a:p>
            <a:fld id="{94362A74-6B61-4557-AF7F-1BEAA44C7EFC}" type="slidenum">
              <a:rPr lang="en-ZA" smtClean="0"/>
              <a:t>‹#›</a:t>
            </a:fld>
            <a:endParaRPr lang="en-ZA"/>
          </a:p>
        </p:txBody>
      </p:sp>
    </p:spTree>
    <p:extLst>
      <p:ext uri="{BB962C8B-B14F-4D97-AF65-F5344CB8AC3E}">
        <p14:creationId xmlns:p14="http://schemas.microsoft.com/office/powerpoint/2010/main" val="3374397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F316DD-8BE2-9438-87A6-F3F9C5CCCBA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ZA"/>
          </a:p>
        </p:txBody>
      </p:sp>
      <p:sp>
        <p:nvSpPr>
          <p:cNvPr id="3" name="Text Placeholder 2">
            <a:extLst>
              <a:ext uri="{FF2B5EF4-FFF2-40B4-BE49-F238E27FC236}">
                <a16:creationId xmlns:a16="http://schemas.microsoft.com/office/drawing/2014/main" id="{C51C707B-C1C1-975C-9826-720EEB325E4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ZA"/>
          </a:p>
        </p:txBody>
      </p:sp>
      <p:sp>
        <p:nvSpPr>
          <p:cNvPr id="4" name="Date Placeholder 3">
            <a:extLst>
              <a:ext uri="{FF2B5EF4-FFF2-40B4-BE49-F238E27FC236}">
                <a16:creationId xmlns:a16="http://schemas.microsoft.com/office/drawing/2014/main" id="{A0387179-9739-86A9-ECC5-031C6C68E2E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31332A8-CEAE-4241-9842-981792316C5A}" type="datetimeFigureOut">
              <a:rPr lang="en-ZA" smtClean="0"/>
              <a:t>2026/04/21</a:t>
            </a:fld>
            <a:endParaRPr lang="en-ZA"/>
          </a:p>
        </p:txBody>
      </p:sp>
      <p:sp>
        <p:nvSpPr>
          <p:cNvPr id="5" name="Footer Placeholder 4">
            <a:extLst>
              <a:ext uri="{FF2B5EF4-FFF2-40B4-BE49-F238E27FC236}">
                <a16:creationId xmlns:a16="http://schemas.microsoft.com/office/drawing/2014/main" id="{0FECEEE9-85D1-D5EA-C92B-3697DF32EFA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ZA"/>
          </a:p>
        </p:txBody>
      </p:sp>
      <p:sp>
        <p:nvSpPr>
          <p:cNvPr id="6" name="Slide Number Placeholder 5">
            <a:extLst>
              <a:ext uri="{FF2B5EF4-FFF2-40B4-BE49-F238E27FC236}">
                <a16:creationId xmlns:a16="http://schemas.microsoft.com/office/drawing/2014/main" id="{FFE5DA69-6313-FAD8-1D11-6F53F86BD57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4362A74-6B61-4557-AF7F-1BEAA44C7EFC}" type="slidenum">
              <a:rPr lang="en-ZA" smtClean="0"/>
              <a:t>‹#›</a:t>
            </a:fld>
            <a:endParaRPr lang="en-ZA"/>
          </a:p>
        </p:txBody>
      </p:sp>
    </p:spTree>
    <p:extLst>
      <p:ext uri="{BB962C8B-B14F-4D97-AF65-F5344CB8AC3E}">
        <p14:creationId xmlns:p14="http://schemas.microsoft.com/office/powerpoint/2010/main" val="363383438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B1F2019-93C2-EC76-597C-181B917B613F}"/>
              </a:ext>
            </a:extLst>
          </p:cNvPr>
          <p:cNvSpPr txBox="1"/>
          <p:nvPr/>
        </p:nvSpPr>
        <p:spPr>
          <a:xfrm>
            <a:off x="2321442" y="499731"/>
            <a:ext cx="7549116" cy="707886"/>
          </a:xfrm>
          <a:prstGeom prst="rect">
            <a:avLst/>
          </a:prstGeom>
          <a:solidFill>
            <a:schemeClr val="bg1"/>
          </a:solidFill>
        </p:spPr>
        <p:txBody>
          <a:bodyPr wrap="square" rtlCol="0">
            <a:spAutoFit/>
          </a:bodyPr>
          <a:lstStyle/>
          <a:p>
            <a:pPr algn="ctr"/>
            <a:r>
              <a:rPr lang="en-US" sz="4000" dirty="0">
                <a:solidFill>
                  <a:srgbClr val="C00000"/>
                </a:solidFill>
              </a:rPr>
              <a:t>Week 9 – Progress Meeting</a:t>
            </a:r>
            <a:endParaRPr lang="en-ZA" sz="4000" dirty="0">
              <a:solidFill>
                <a:srgbClr val="C00000"/>
              </a:solidFill>
            </a:endParaRPr>
          </a:p>
        </p:txBody>
      </p:sp>
      <p:sp>
        <p:nvSpPr>
          <p:cNvPr id="5" name="TextBox 4">
            <a:extLst>
              <a:ext uri="{FF2B5EF4-FFF2-40B4-BE49-F238E27FC236}">
                <a16:creationId xmlns:a16="http://schemas.microsoft.com/office/drawing/2014/main" id="{1F8DBEAB-31A9-BA81-AEEB-213E0520AE5B}"/>
              </a:ext>
            </a:extLst>
          </p:cNvPr>
          <p:cNvSpPr txBox="1"/>
          <p:nvPr/>
        </p:nvSpPr>
        <p:spPr>
          <a:xfrm>
            <a:off x="1080977" y="1637414"/>
            <a:ext cx="10037135" cy="1631216"/>
          </a:xfrm>
          <a:prstGeom prst="rect">
            <a:avLst/>
          </a:prstGeom>
          <a:solidFill>
            <a:schemeClr val="bg1"/>
          </a:solidFill>
        </p:spPr>
        <p:txBody>
          <a:bodyPr wrap="square" rtlCol="0">
            <a:spAutoFit/>
          </a:bodyPr>
          <a:lstStyle/>
          <a:p>
            <a:r>
              <a:rPr lang="en-US" sz="2000" u="sng" dirty="0">
                <a:solidFill>
                  <a:srgbClr val="C00000"/>
                </a:solidFill>
              </a:rPr>
              <a:t>OVERVIEW:</a:t>
            </a:r>
          </a:p>
          <a:p>
            <a:pPr marL="342900" indent="-342900">
              <a:buFont typeface="Arial" panose="020B0604020202020204" pitchFamily="34" charset="0"/>
              <a:buChar char="•"/>
            </a:pPr>
            <a:r>
              <a:rPr lang="en-US" sz="2000" dirty="0"/>
              <a:t>Concept generation</a:t>
            </a:r>
          </a:p>
          <a:p>
            <a:pPr marL="342900" indent="-342900">
              <a:buFont typeface="Arial" panose="020B0604020202020204" pitchFamily="34" charset="0"/>
              <a:buChar char="•"/>
            </a:pPr>
            <a:r>
              <a:rPr lang="en-US" sz="2000" dirty="0"/>
              <a:t>Derivation of D-H </a:t>
            </a:r>
            <a:r>
              <a:rPr lang="en-US" sz="2000" dirty="0" err="1"/>
              <a:t>parametrs</a:t>
            </a:r>
            <a:endParaRPr lang="en-US" sz="2000" dirty="0"/>
          </a:p>
          <a:p>
            <a:pPr marL="342900" indent="-342900">
              <a:buFont typeface="Arial" panose="020B0604020202020204" pitchFamily="34" charset="0"/>
              <a:buChar char="•"/>
            </a:pPr>
            <a:r>
              <a:rPr lang="en-US" sz="2000" dirty="0"/>
              <a:t>Derivation of D-H model</a:t>
            </a:r>
          </a:p>
          <a:p>
            <a:pPr marL="342900" indent="-342900">
              <a:buFont typeface="Arial" panose="020B0604020202020204" pitchFamily="34" charset="0"/>
              <a:buChar char="•"/>
            </a:pPr>
            <a:r>
              <a:rPr lang="en-US" sz="2000" dirty="0"/>
              <a:t>Interpretation of results from D-H model</a:t>
            </a:r>
            <a:endParaRPr lang="en-ZA" sz="2000" dirty="0"/>
          </a:p>
        </p:txBody>
      </p:sp>
    </p:spTree>
    <p:extLst>
      <p:ext uri="{BB962C8B-B14F-4D97-AF65-F5344CB8AC3E}">
        <p14:creationId xmlns:p14="http://schemas.microsoft.com/office/powerpoint/2010/main" val="36344584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D13342FF-0C5A-4368-1643-CF85BF5EE43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C821951-7634-C2E0-937D-C950C8DDAED8}"/>
              </a:ext>
            </a:extLst>
          </p:cNvPr>
          <p:cNvSpPr txBox="1"/>
          <p:nvPr/>
        </p:nvSpPr>
        <p:spPr>
          <a:xfrm>
            <a:off x="2321442" y="499731"/>
            <a:ext cx="7549116" cy="707886"/>
          </a:xfrm>
          <a:prstGeom prst="rect">
            <a:avLst/>
          </a:prstGeom>
          <a:solidFill>
            <a:schemeClr val="bg1"/>
          </a:solidFill>
        </p:spPr>
        <p:txBody>
          <a:bodyPr wrap="square" rtlCol="0">
            <a:spAutoFit/>
          </a:bodyPr>
          <a:lstStyle/>
          <a:p>
            <a:pPr algn="ctr"/>
            <a:r>
              <a:rPr lang="en-US" sz="4000" dirty="0">
                <a:solidFill>
                  <a:srgbClr val="C00000"/>
                </a:solidFill>
              </a:rPr>
              <a:t>Concept Generation</a:t>
            </a:r>
            <a:endParaRPr lang="en-ZA" sz="4000" dirty="0">
              <a:solidFill>
                <a:srgbClr val="C00000"/>
              </a:solidFill>
            </a:endParaRPr>
          </a:p>
        </p:txBody>
      </p:sp>
      <p:pic>
        <p:nvPicPr>
          <p:cNvPr id="4" name="Picture 3">
            <a:extLst>
              <a:ext uri="{FF2B5EF4-FFF2-40B4-BE49-F238E27FC236}">
                <a16:creationId xmlns:a16="http://schemas.microsoft.com/office/drawing/2014/main" id="{6596B266-A043-3B8B-1A13-E73E984341F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98753" y="1331495"/>
            <a:ext cx="8994494" cy="5299490"/>
          </a:xfrm>
          <a:prstGeom prst="rect">
            <a:avLst/>
          </a:prstGeom>
        </p:spPr>
      </p:pic>
    </p:spTree>
    <p:extLst>
      <p:ext uri="{BB962C8B-B14F-4D97-AF65-F5344CB8AC3E}">
        <p14:creationId xmlns:p14="http://schemas.microsoft.com/office/powerpoint/2010/main" val="1867381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E3EECA98-9D12-9A0E-9808-9A3886260B0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EF00748-31E3-6DAB-197F-7A21A62B9ECE}"/>
              </a:ext>
            </a:extLst>
          </p:cNvPr>
          <p:cNvSpPr txBox="1"/>
          <p:nvPr/>
        </p:nvSpPr>
        <p:spPr>
          <a:xfrm>
            <a:off x="368968" y="419521"/>
            <a:ext cx="11454063" cy="707886"/>
          </a:xfrm>
          <a:prstGeom prst="rect">
            <a:avLst/>
          </a:prstGeom>
          <a:solidFill>
            <a:schemeClr val="bg1"/>
          </a:solidFill>
        </p:spPr>
        <p:txBody>
          <a:bodyPr wrap="square" rtlCol="0">
            <a:spAutoFit/>
          </a:bodyPr>
          <a:lstStyle/>
          <a:p>
            <a:pPr algn="ctr"/>
            <a:r>
              <a:rPr lang="en-US" sz="4000" dirty="0">
                <a:solidFill>
                  <a:srgbClr val="C00000"/>
                </a:solidFill>
              </a:rPr>
              <a:t>Concept 1: Precision Joint with Preloaded Bearings</a:t>
            </a:r>
            <a:endParaRPr lang="en-ZA" sz="4000" dirty="0">
              <a:solidFill>
                <a:srgbClr val="C00000"/>
              </a:solidFill>
            </a:endParaRPr>
          </a:p>
        </p:txBody>
      </p:sp>
      <p:pic>
        <p:nvPicPr>
          <p:cNvPr id="4" name="Picture 3">
            <a:extLst>
              <a:ext uri="{FF2B5EF4-FFF2-40B4-BE49-F238E27FC236}">
                <a16:creationId xmlns:a16="http://schemas.microsoft.com/office/drawing/2014/main" id="{52E061C6-97A3-1489-8055-DE24DCF0C89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8968" y="1127407"/>
            <a:ext cx="3210118" cy="5311072"/>
          </a:xfrm>
          <a:prstGeom prst="rect">
            <a:avLst/>
          </a:prstGeom>
        </p:spPr>
      </p:pic>
      <p:sp>
        <p:nvSpPr>
          <p:cNvPr id="5" name="TextBox 4">
            <a:extLst>
              <a:ext uri="{FF2B5EF4-FFF2-40B4-BE49-F238E27FC236}">
                <a16:creationId xmlns:a16="http://schemas.microsoft.com/office/drawing/2014/main" id="{9E98F96D-AD6B-725A-05AD-1BEC5C7F91AA}"/>
              </a:ext>
            </a:extLst>
          </p:cNvPr>
          <p:cNvSpPr txBox="1"/>
          <p:nvPr/>
        </p:nvSpPr>
        <p:spPr>
          <a:xfrm>
            <a:off x="3882189" y="1127407"/>
            <a:ext cx="7940842" cy="5078313"/>
          </a:xfrm>
          <a:prstGeom prst="rect">
            <a:avLst/>
          </a:prstGeom>
          <a:solidFill>
            <a:schemeClr val="bg1"/>
          </a:solidFill>
        </p:spPr>
        <p:txBody>
          <a:bodyPr wrap="square" rtlCol="0">
            <a:spAutoFit/>
          </a:bodyPr>
          <a:lstStyle/>
          <a:p>
            <a:r>
              <a:rPr lang="en-US" b="1" dirty="0">
                <a:solidFill>
                  <a:srgbClr val="C00000"/>
                </a:solidFill>
              </a:rPr>
              <a:t>Key Components</a:t>
            </a:r>
            <a:endParaRPr lang="en-US" dirty="0">
              <a:solidFill>
                <a:srgbClr val="C00000"/>
              </a:solidFill>
            </a:endParaRPr>
          </a:p>
          <a:p>
            <a:pPr marL="285750" indent="-285750">
              <a:buFont typeface="Arial" panose="020B0604020202020204" pitchFamily="34" charset="0"/>
              <a:buChar char="•"/>
            </a:pPr>
            <a:r>
              <a:rPr lang="en-US" b="1" dirty="0"/>
              <a:t>Shaft:</a:t>
            </a:r>
            <a:r>
              <a:rPr lang="en-US" dirty="0"/>
              <a:t> Rotating element that transmits motion to the output link</a:t>
            </a:r>
          </a:p>
          <a:p>
            <a:pPr marL="285750" indent="-285750">
              <a:buFont typeface="Arial" panose="020B0604020202020204" pitchFamily="34" charset="0"/>
              <a:buChar char="•"/>
            </a:pPr>
            <a:r>
              <a:rPr lang="en-US" b="1" dirty="0"/>
              <a:t>Joint Housing:</a:t>
            </a:r>
            <a:r>
              <a:rPr lang="en-US" dirty="0"/>
              <a:t> Fixed outer casing, lightweight and rigid</a:t>
            </a:r>
          </a:p>
          <a:p>
            <a:pPr marL="285750" indent="-285750">
              <a:buFont typeface="Arial" panose="020B0604020202020204" pitchFamily="34" charset="0"/>
              <a:buChar char="•"/>
            </a:pPr>
            <a:r>
              <a:rPr lang="en-US" b="1" dirty="0"/>
              <a:t>Angular Contact Bearings (×2)</a:t>
            </a:r>
            <a:r>
              <a:rPr lang="en-US" dirty="0"/>
              <a:t> — Handle radial and axial loads; resist tilting forces</a:t>
            </a:r>
          </a:p>
          <a:p>
            <a:pPr marL="285750" indent="-285750">
              <a:buFont typeface="Arial" panose="020B0604020202020204" pitchFamily="34" charset="0"/>
              <a:buChar char="•"/>
            </a:pPr>
            <a:r>
              <a:rPr lang="en-US" b="1" dirty="0"/>
              <a:t>Belleville Washers: </a:t>
            </a:r>
            <a:r>
              <a:rPr lang="en-US" dirty="0"/>
              <a:t>Conical spring washers that apply continuous preload force</a:t>
            </a:r>
          </a:p>
          <a:p>
            <a:pPr marL="285750" indent="-285750">
              <a:buFont typeface="Arial" panose="020B0604020202020204" pitchFamily="34" charset="0"/>
              <a:buChar char="•"/>
            </a:pPr>
            <a:r>
              <a:rPr lang="en-US" b="1" dirty="0"/>
              <a:t>Preload Nut: </a:t>
            </a:r>
            <a:r>
              <a:rPr lang="en-US" dirty="0"/>
              <a:t>Compresses washers to eliminate all internal bearing clearance</a:t>
            </a:r>
          </a:p>
          <a:p>
            <a:pPr marL="285750" indent="-285750">
              <a:buFont typeface="Arial" panose="020B0604020202020204" pitchFamily="34" charset="0"/>
              <a:buChar char="•"/>
            </a:pPr>
            <a:r>
              <a:rPr lang="en-US" b="1" dirty="0"/>
              <a:t>Rotary Encoder (Coaxial):</a:t>
            </a:r>
            <a:r>
              <a:rPr lang="en-US" dirty="0"/>
              <a:t> Measures shaft angle θ directly with high resolution</a:t>
            </a:r>
          </a:p>
          <a:p>
            <a:pPr marL="285750" indent="-285750">
              <a:buFont typeface="Arial" panose="020B0604020202020204" pitchFamily="34" charset="0"/>
              <a:buChar char="•"/>
            </a:pPr>
            <a:r>
              <a:rPr lang="en-US" b="1" dirty="0"/>
              <a:t>Upper Link / Lower Link:</a:t>
            </a:r>
            <a:r>
              <a:rPr lang="en-US" dirty="0"/>
              <a:t> Fixed input side and rotating output side of the joint</a:t>
            </a:r>
          </a:p>
          <a:p>
            <a:r>
              <a:rPr lang="en-US" b="1" dirty="0">
                <a:solidFill>
                  <a:srgbClr val="C00000"/>
                </a:solidFill>
              </a:rPr>
              <a:t>How It Works</a:t>
            </a:r>
            <a:endParaRPr lang="en-US" dirty="0">
              <a:solidFill>
                <a:srgbClr val="C00000"/>
              </a:solidFill>
            </a:endParaRPr>
          </a:p>
          <a:p>
            <a:r>
              <a:rPr lang="en-US" dirty="0"/>
              <a:t>Preload nut and Belleville washers squeeze out all internal clearance from the bearings. No "dead zone" when rotation reverses, the joint responds immediately and repeatably. Coaxial encoder reads exact angle with no mechanical linkage error.</a:t>
            </a:r>
          </a:p>
        </p:txBody>
      </p:sp>
    </p:spTree>
    <p:extLst>
      <p:ext uri="{BB962C8B-B14F-4D97-AF65-F5344CB8AC3E}">
        <p14:creationId xmlns:p14="http://schemas.microsoft.com/office/powerpoint/2010/main" val="30615334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09B8BC87-7310-3656-7CE7-F04FEC07F41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FBC9687-99FD-AF53-E22F-E490D7661E8E}"/>
              </a:ext>
            </a:extLst>
          </p:cNvPr>
          <p:cNvSpPr txBox="1"/>
          <p:nvPr/>
        </p:nvSpPr>
        <p:spPr>
          <a:xfrm>
            <a:off x="1456932" y="430538"/>
            <a:ext cx="9278135" cy="707886"/>
          </a:xfrm>
          <a:prstGeom prst="rect">
            <a:avLst/>
          </a:prstGeom>
          <a:solidFill>
            <a:schemeClr val="bg1"/>
          </a:solidFill>
        </p:spPr>
        <p:txBody>
          <a:bodyPr wrap="square" rtlCol="0">
            <a:spAutoFit/>
          </a:bodyPr>
          <a:lstStyle/>
          <a:p>
            <a:pPr algn="ctr"/>
            <a:r>
              <a:rPr lang="en-US" sz="4000" dirty="0">
                <a:solidFill>
                  <a:srgbClr val="C00000"/>
                </a:solidFill>
              </a:rPr>
              <a:t>Concept 2: Counterbalanced Joint</a:t>
            </a:r>
            <a:endParaRPr lang="en-ZA" sz="4000" dirty="0">
              <a:solidFill>
                <a:srgbClr val="C00000"/>
              </a:solidFill>
            </a:endParaRPr>
          </a:p>
        </p:txBody>
      </p:sp>
      <p:pic>
        <p:nvPicPr>
          <p:cNvPr id="4" name="Picture 3">
            <a:extLst>
              <a:ext uri="{FF2B5EF4-FFF2-40B4-BE49-F238E27FC236}">
                <a16:creationId xmlns:a16="http://schemas.microsoft.com/office/drawing/2014/main" id="{6AD8D426-4B66-0F41-67C1-DF6DFB64D1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50467" y="1054123"/>
            <a:ext cx="3033407" cy="5803877"/>
          </a:xfrm>
          <a:prstGeom prst="rect">
            <a:avLst/>
          </a:prstGeom>
        </p:spPr>
      </p:pic>
      <p:sp>
        <p:nvSpPr>
          <p:cNvPr id="5" name="TextBox 4">
            <a:extLst>
              <a:ext uri="{FF2B5EF4-FFF2-40B4-BE49-F238E27FC236}">
                <a16:creationId xmlns:a16="http://schemas.microsoft.com/office/drawing/2014/main" id="{8A1DC8EF-1AB7-0D5A-5993-2202E82671E6}"/>
              </a:ext>
            </a:extLst>
          </p:cNvPr>
          <p:cNvSpPr txBox="1"/>
          <p:nvPr/>
        </p:nvSpPr>
        <p:spPr>
          <a:xfrm>
            <a:off x="3459297" y="2247901"/>
            <a:ext cx="8374751" cy="3139321"/>
          </a:xfrm>
          <a:prstGeom prst="rect">
            <a:avLst/>
          </a:prstGeom>
          <a:solidFill>
            <a:schemeClr val="bg1"/>
          </a:solidFill>
        </p:spPr>
        <p:txBody>
          <a:bodyPr wrap="square" rtlCol="0">
            <a:spAutoFit/>
          </a:bodyPr>
          <a:lstStyle/>
          <a:p>
            <a:r>
              <a:rPr lang="en-US" b="1" dirty="0">
                <a:solidFill>
                  <a:srgbClr val="C00000"/>
                </a:solidFill>
              </a:rPr>
              <a:t>Key Components</a:t>
            </a:r>
            <a:endParaRPr lang="en-US" dirty="0">
              <a:solidFill>
                <a:srgbClr val="C00000"/>
              </a:solidFill>
            </a:endParaRPr>
          </a:p>
          <a:p>
            <a:pPr marL="285750" indent="-285750">
              <a:buFont typeface="Arial" panose="020B0604020202020204" pitchFamily="34" charset="0"/>
              <a:buChar char="•"/>
            </a:pPr>
            <a:r>
              <a:rPr lang="en-US" dirty="0"/>
              <a:t>All components from Concept 1 (shaft, housing, bearings, encoder), in addition to:</a:t>
            </a:r>
          </a:p>
          <a:p>
            <a:pPr marL="742950" lvl="1" indent="-285750">
              <a:buFont typeface="Arial" panose="020B0604020202020204" pitchFamily="34" charset="0"/>
              <a:buChar char="•"/>
            </a:pPr>
            <a:r>
              <a:rPr lang="en-US" b="1" dirty="0"/>
              <a:t>Counterbalance Torsion Spring:</a:t>
            </a:r>
            <a:r>
              <a:rPr lang="en-US" dirty="0"/>
              <a:t> Stores and releases rotational energy</a:t>
            </a:r>
          </a:p>
          <a:p>
            <a:pPr marL="742950" lvl="1" indent="-285750">
              <a:buFont typeface="Arial" panose="020B0604020202020204" pitchFamily="34" charset="0"/>
              <a:buChar char="•"/>
            </a:pPr>
            <a:r>
              <a:rPr lang="en-US" b="1" dirty="0"/>
              <a:t>Spring Attachment Point:</a:t>
            </a:r>
            <a:r>
              <a:rPr lang="en-US" dirty="0"/>
              <a:t> Connects spring between housing and shaft</a:t>
            </a:r>
          </a:p>
          <a:p>
            <a:endParaRPr lang="en-US" dirty="0"/>
          </a:p>
          <a:p>
            <a:r>
              <a:rPr lang="en-US" b="1" dirty="0">
                <a:solidFill>
                  <a:srgbClr val="C00000"/>
                </a:solidFill>
              </a:rPr>
              <a:t>How It Works</a:t>
            </a:r>
            <a:endParaRPr lang="en-US" dirty="0">
              <a:solidFill>
                <a:srgbClr val="C00000"/>
              </a:solidFill>
            </a:endParaRPr>
          </a:p>
          <a:p>
            <a:r>
              <a:rPr lang="en-US" dirty="0"/>
              <a:t>As the arm link rotates downward under gravity, the torsion spring winds up and stores energy. The spring applies an opposing torque that cancels the gravitational load. Motor only works against dynamic movement, not continuously fighting gravity. Spring stiffness is tuned to match the specific weight of the distal link.</a:t>
            </a:r>
          </a:p>
        </p:txBody>
      </p:sp>
    </p:spTree>
    <p:extLst>
      <p:ext uri="{BB962C8B-B14F-4D97-AF65-F5344CB8AC3E}">
        <p14:creationId xmlns:p14="http://schemas.microsoft.com/office/powerpoint/2010/main" val="35341000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a:extLst>
            <a:ext uri="{FF2B5EF4-FFF2-40B4-BE49-F238E27FC236}">
              <a16:creationId xmlns:a16="http://schemas.microsoft.com/office/drawing/2014/main" id="{F3C6E76E-5A3E-1F23-D163-2CB383DBDE5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D5AA3A-CA8E-B6DD-ADB7-8FE7D4CDE0E8}"/>
              </a:ext>
            </a:extLst>
          </p:cNvPr>
          <p:cNvSpPr txBox="1"/>
          <p:nvPr/>
        </p:nvSpPr>
        <p:spPr>
          <a:xfrm>
            <a:off x="1456932" y="430538"/>
            <a:ext cx="9278135" cy="707886"/>
          </a:xfrm>
          <a:prstGeom prst="rect">
            <a:avLst/>
          </a:prstGeom>
          <a:solidFill>
            <a:schemeClr val="bg1"/>
          </a:solidFill>
        </p:spPr>
        <p:txBody>
          <a:bodyPr wrap="square" rtlCol="0">
            <a:spAutoFit/>
          </a:bodyPr>
          <a:lstStyle/>
          <a:p>
            <a:pPr algn="ctr"/>
            <a:r>
              <a:rPr lang="en-US" sz="4000" dirty="0">
                <a:solidFill>
                  <a:srgbClr val="C00000"/>
                </a:solidFill>
              </a:rPr>
              <a:t>Concept 3: Active Brake Joint</a:t>
            </a:r>
            <a:endParaRPr lang="en-ZA" sz="4000" dirty="0">
              <a:solidFill>
                <a:srgbClr val="C00000"/>
              </a:solidFill>
            </a:endParaRPr>
          </a:p>
        </p:txBody>
      </p:sp>
      <p:pic>
        <p:nvPicPr>
          <p:cNvPr id="4" name="Picture 3">
            <a:extLst>
              <a:ext uri="{FF2B5EF4-FFF2-40B4-BE49-F238E27FC236}">
                <a16:creationId xmlns:a16="http://schemas.microsoft.com/office/drawing/2014/main" id="{4037E25C-BDF3-32CC-86D8-F7705FEAC1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24226" y="1103869"/>
            <a:ext cx="3344390" cy="5754131"/>
          </a:xfrm>
          <a:prstGeom prst="rect">
            <a:avLst/>
          </a:prstGeom>
        </p:spPr>
      </p:pic>
      <p:sp>
        <p:nvSpPr>
          <p:cNvPr id="5" name="TextBox 4">
            <a:extLst>
              <a:ext uri="{FF2B5EF4-FFF2-40B4-BE49-F238E27FC236}">
                <a16:creationId xmlns:a16="http://schemas.microsoft.com/office/drawing/2014/main" id="{EE2D1835-0713-267D-7B6C-2B1B6FAF6348}"/>
              </a:ext>
            </a:extLst>
          </p:cNvPr>
          <p:cNvSpPr txBox="1"/>
          <p:nvPr/>
        </p:nvSpPr>
        <p:spPr>
          <a:xfrm>
            <a:off x="3926932" y="1857275"/>
            <a:ext cx="7940842" cy="4247317"/>
          </a:xfrm>
          <a:prstGeom prst="rect">
            <a:avLst/>
          </a:prstGeom>
          <a:solidFill>
            <a:schemeClr val="bg1"/>
          </a:solidFill>
        </p:spPr>
        <p:txBody>
          <a:bodyPr wrap="square" rtlCol="0">
            <a:spAutoFit/>
          </a:bodyPr>
          <a:lstStyle/>
          <a:p>
            <a:r>
              <a:rPr lang="en-US" b="1" dirty="0">
                <a:solidFill>
                  <a:srgbClr val="C00000"/>
                </a:solidFill>
              </a:rPr>
              <a:t>Key Components</a:t>
            </a:r>
            <a:endParaRPr lang="en-US" dirty="0">
              <a:solidFill>
                <a:srgbClr val="C00000"/>
              </a:solidFill>
            </a:endParaRPr>
          </a:p>
          <a:p>
            <a:pPr marL="285750" indent="-285750">
              <a:buFont typeface="Arial" panose="020B0604020202020204" pitchFamily="34" charset="0"/>
              <a:buChar char="•"/>
            </a:pPr>
            <a:r>
              <a:rPr lang="en-US" dirty="0"/>
              <a:t>All components from Concept 1 (shaft, housing, bearings, encoder), including:</a:t>
            </a:r>
          </a:p>
          <a:p>
            <a:pPr marL="742950" lvl="1" indent="-285750">
              <a:buFont typeface="Arial" panose="020B0604020202020204" pitchFamily="34" charset="0"/>
              <a:buChar char="•"/>
            </a:pPr>
            <a:r>
              <a:rPr lang="en-US" b="1" dirty="0"/>
              <a:t>Electromagnetic Coil (Fixed): </a:t>
            </a:r>
            <a:r>
              <a:rPr lang="en-US" dirty="0"/>
              <a:t>Generates magnetic field when energized</a:t>
            </a:r>
          </a:p>
          <a:p>
            <a:pPr marL="742950" lvl="1" indent="-285750">
              <a:buFont typeface="Arial" panose="020B0604020202020204" pitchFamily="34" charset="0"/>
              <a:buChar char="•"/>
            </a:pPr>
            <a:r>
              <a:rPr lang="en-US" b="1" dirty="0"/>
              <a:t>Friction Plate (Fixed to Housing): </a:t>
            </a:r>
            <a:r>
              <a:rPr lang="en-US" dirty="0"/>
              <a:t>Stationary braking surface</a:t>
            </a:r>
          </a:p>
          <a:p>
            <a:pPr marL="742950" lvl="1" indent="-285750">
              <a:buFont typeface="Arial" panose="020B0604020202020204" pitchFamily="34" charset="0"/>
              <a:buChar char="•"/>
            </a:pPr>
            <a:r>
              <a:rPr lang="en-US" b="1" dirty="0"/>
              <a:t>Brake Disc (Attached to Shaft)</a:t>
            </a:r>
            <a:r>
              <a:rPr lang="en-US" dirty="0"/>
              <a:t>: Rotates with shaft; sits between coil and friction plate</a:t>
            </a:r>
          </a:p>
          <a:p>
            <a:pPr marL="742950" lvl="1" indent="-285750">
              <a:buFont typeface="Arial" panose="020B0604020202020204" pitchFamily="34" charset="0"/>
              <a:buChar char="•"/>
            </a:pPr>
            <a:r>
              <a:rPr lang="en-US" b="1" dirty="0"/>
              <a:t>Air Gap: </a:t>
            </a:r>
            <a:r>
              <a:rPr lang="en-US" dirty="0"/>
              <a:t>Small clearance that allows free movement when brake is off</a:t>
            </a:r>
          </a:p>
          <a:p>
            <a:endParaRPr lang="en-US" dirty="0"/>
          </a:p>
          <a:p>
            <a:r>
              <a:rPr lang="en-US" b="1" dirty="0">
                <a:solidFill>
                  <a:srgbClr val="C00000"/>
                </a:solidFill>
              </a:rPr>
              <a:t>How It Works</a:t>
            </a:r>
            <a:endParaRPr lang="en-US" dirty="0">
              <a:solidFill>
                <a:srgbClr val="C00000"/>
              </a:solidFill>
            </a:endParaRPr>
          </a:p>
          <a:p>
            <a:r>
              <a:rPr lang="en-US" dirty="0"/>
              <a:t>When the brake is OFF, the coil is  de-energized and the air gap prevents contact. Shaft rotates freely with minimal friction. When the brake is ON, the coil is energized and magnetic field closes air gap. Disc clamps against friction plate and joint locks rigidly.</a:t>
            </a:r>
          </a:p>
        </p:txBody>
      </p:sp>
    </p:spTree>
    <p:extLst>
      <p:ext uri="{BB962C8B-B14F-4D97-AF65-F5344CB8AC3E}">
        <p14:creationId xmlns:p14="http://schemas.microsoft.com/office/powerpoint/2010/main" val="41907844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87</TotalTime>
  <Words>398</Words>
  <Application>Microsoft Office PowerPoint</Application>
  <PresentationFormat>Widescreen</PresentationFormat>
  <Paragraphs>36</Paragraphs>
  <Slides>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vt:i4>
      </vt:variant>
    </vt:vector>
  </HeadingPairs>
  <TitlesOfParts>
    <vt:vector size="9"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Matota, LN, Miss [24989142@sun.ac.za]</dc:creator>
  <cp:lastModifiedBy>Matota, LN, Miss [24989142@sun.ac.za]</cp:lastModifiedBy>
  <cp:revision>2</cp:revision>
  <dcterms:created xsi:type="dcterms:W3CDTF">2026-04-21T12:19:32Z</dcterms:created>
  <dcterms:modified xsi:type="dcterms:W3CDTF">2026-04-21T13:49:27Z</dcterms:modified>
</cp:coreProperties>
</file>