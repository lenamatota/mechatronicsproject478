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397" r:id="rId5"/>
    <p:sldId id="333" r:id="rId6"/>
    <p:sldId id="258" r:id="rId7"/>
    <p:sldId id="260" r:id="rId8"/>
    <p:sldId id="400" r:id="rId9"/>
    <p:sldId id="401" r:id="rId10"/>
    <p:sldId id="341" r:id="rId11"/>
    <p:sldId id="402" r:id="rId12"/>
    <p:sldId id="261" r:id="rId13"/>
    <p:sldId id="3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9962"/>
    <a:srgbClr val="4D5356"/>
    <a:srgbClr val="000000"/>
    <a:srgbClr val="461B2B"/>
    <a:srgbClr val="FFFFFF"/>
    <a:srgbClr val="E2D6C0"/>
    <a:srgbClr val="8B2346"/>
    <a:srgbClr val="461A2B"/>
    <a:srgbClr val="F1EBDF"/>
    <a:srgbClr val="EC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88498"/>
  </p:normalViewPr>
  <p:slideViewPr>
    <p:cSldViewPr snapToGrid="0" snapToObjects="1" showGuides="1">
      <p:cViewPr varScale="1">
        <p:scale>
          <a:sx n="40" d="100"/>
          <a:sy n="40" d="100"/>
        </p:scale>
        <p:origin x="64" y="400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Co-branded Cover Slide Option</a:t>
            </a:r>
            <a:br>
              <a:rPr lang="en-GB" b="0" i="0" dirty="0">
                <a:latin typeface="Trebuchet MS" panose="020B0703020202090204" pitchFamily="34" charset="0"/>
              </a:rPr>
            </a:br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8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73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Co-branded End Slide Option</a:t>
            </a:r>
          </a:p>
          <a:p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2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Engineering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/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04009226-6BB0-4A75-BF0B-291CA12DAC1F}"/>
              </a:ext>
            </a:extLst>
          </p:cNvPr>
          <p:cNvSpPr/>
          <p:nvPr/>
        </p:nvSpPr>
        <p:spPr>
          <a:xfrm rot="5400000">
            <a:off x="2142153" y="-800711"/>
            <a:ext cx="1835150" cy="6119454"/>
          </a:xfrm>
          <a:prstGeom prst="round1Rect">
            <a:avLst/>
          </a:prstGeom>
          <a:solidFill>
            <a:srgbClr val="4D535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4A2E3458-2FE6-4D84-8A88-415691A3E1D7}"/>
              </a:ext>
            </a:extLst>
          </p:cNvPr>
          <p:cNvSpPr txBox="1"/>
          <p:nvPr/>
        </p:nvSpPr>
        <p:spPr>
          <a:xfrm>
            <a:off x="528888" y="2482477"/>
            <a:ext cx="5143590" cy="54771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2400" b="1" dirty="0">
                <a:solidFill>
                  <a:schemeClr val="bg1"/>
                </a:solidFill>
                <a:latin typeface="Trebuchet MS" panose="020B0703020202090204" pitchFamily="34" charset="0"/>
              </a:rPr>
              <a:t>Date: 07 August 2026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C77969E-7453-4379-BA49-489BE156FC97}"/>
              </a:ext>
            </a:extLst>
          </p:cNvPr>
          <p:cNvSpPr txBox="1"/>
          <p:nvPr/>
        </p:nvSpPr>
        <p:spPr>
          <a:xfrm>
            <a:off x="528888" y="1609311"/>
            <a:ext cx="5143590" cy="60529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PCMA JOINT DESIGN</a:t>
            </a:r>
          </a:p>
        </p:txBody>
      </p:sp>
    </p:spTree>
    <p:extLst>
      <p:ext uri="{BB962C8B-B14F-4D97-AF65-F5344CB8AC3E}">
        <p14:creationId xmlns:p14="http://schemas.microsoft.com/office/powerpoint/2010/main" val="3192580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B47B4-D976-A141-8171-824AB7337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068" y="2098627"/>
            <a:ext cx="7359070" cy="4414600"/>
          </a:xfrm>
        </p:spPr>
        <p:txBody>
          <a:bodyPr>
            <a:normAutofit/>
          </a:bodyPr>
          <a:lstStyle/>
          <a:p>
            <a:r>
              <a:rPr lang="en-GB" dirty="0"/>
              <a:t>PCMA – Portable coordinate measurement arm</a:t>
            </a:r>
          </a:p>
          <a:p>
            <a:r>
              <a:rPr lang="en-GB" dirty="0"/>
              <a:t>Hand-held metrology instrument used to capture 3-D coordinates directly from a physical object</a:t>
            </a:r>
          </a:p>
          <a:p>
            <a:r>
              <a:rPr lang="en-GB" dirty="0"/>
              <a:t>Manual operation introduces positional instability during calibration and utilisation</a:t>
            </a:r>
          </a:p>
          <a:p>
            <a:r>
              <a:rPr lang="en-GB" dirty="0"/>
              <a:t>Joint design with position-holding implementation would:</a:t>
            </a:r>
          </a:p>
          <a:p>
            <a:pPr lvl="1"/>
            <a:r>
              <a:rPr lang="en-GB" dirty="0"/>
              <a:t>Improve PCMA stability</a:t>
            </a:r>
          </a:p>
          <a:p>
            <a:pPr lvl="1"/>
            <a:r>
              <a:rPr lang="en-GB" dirty="0"/>
              <a:t>Improve kinematic stability and accuracy</a:t>
            </a:r>
          </a:p>
          <a:p>
            <a:pPr lvl="1"/>
            <a:r>
              <a:rPr lang="en-GB" dirty="0"/>
              <a:t>A good practice of safety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FDE66-C7C2-A546-B7DD-130F029106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8A1B4-DD55-424F-B6DE-A458F7C1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D69C9-7E69-71D4-1068-3CF96CFD1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83" y="2107426"/>
            <a:ext cx="3980985" cy="398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2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54432-7A71-994E-A403-6EF740057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8" y="2098627"/>
            <a:ext cx="11122470" cy="214258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Generalise the </a:t>
            </a:r>
            <a:r>
              <a:rPr lang="en-GB" dirty="0" err="1"/>
              <a:t>Denavit-Hartenberg</a:t>
            </a:r>
            <a:r>
              <a:rPr lang="en-GB" dirty="0"/>
              <a:t> (D-H) model derived by Prof. </a:t>
            </a:r>
            <a:r>
              <a:rPr lang="en-GB" dirty="0" err="1"/>
              <a:t>Schreve</a:t>
            </a:r>
            <a:r>
              <a:rPr lang="en-GB" dirty="0"/>
              <a:t> and Mr. Hall</a:t>
            </a:r>
          </a:p>
          <a:p>
            <a:r>
              <a:rPr lang="en-GB" dirty="0"/>
              <a:t>Design, build, and test key components of the joint to assess the joint design’s mechanical feasibility</a:t>
            </a:r>
          </a:p>
          <a:p>
            <a:r>
              <a:rPr lang="en-GB" dirty="0"/>
              <a:t>To integrate the test results and into the D-H model and assess feasibility of the joint design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3D3A0E-F2E2-B849-910C-FCDFF58BC3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8" y="4241214"/>
            <a:ext cx="11122470" cy="644993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FBBF00-A399-C74B-B054-97546261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848EEC0-DDB6-17DE-4969-6F850F543D8F}"/>
              </a:ext>
            </a:extLst>
          </p:cNvPr>
          <p:cNvSpPr txBox="1">
            <a:spLocks/>
          </p:cNvSpPr>
          <p:nvPr/>
        </p:nvSpPr>
        <p:spPr>
          <a:xfrm>
            <a:off x="518668" y="1372980"/>
            <a:ext cx="11122470" cy="644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Aim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931C092-B21B-0CD7-C90D-69327F15AB82}"/>
              </a:ext>
            </a:extLst>
          </p:cNvPr>
          <p:cNvSpPr txBox="1">
            <a:spLocks/>
          </p:cNvSpPr>
          <p:nvPr/>
        </p:nvSpPr>
        <p:spPr>
          <a:xfrm>
            <a:off x="518668" y="4886208"/>
            <a:ext cx="11122470" cy="644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Limited to designing, building and testing key components </a:t>
            </a:r>
          </a:p>
        </p:txBody>
      </p:sp>
    </p:spTree>
    <p:extLst>
      <p:ext uri="{BB962C8B-B14F-4D97-AF65-F5344CB8AC3E}">
        <p14:creationId xmlns:p14="http://schemas.microsoft.com/office/powerpoint/2010/main" val="58761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F08DEC-DF00-36DD-9136-47ACF5B1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  <a:endParaRPr lang="en-Z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8D0D-1E58-CD1C-9657-7B36CD8E49D8}"/>
              </a:ext>
            </a:extLst>
          </p:cNvPr>
          <p:cNvSpPr txBox="1"/>
          <p:nvPr/>
        </p:nvSpPr>
        <p:spPr>
          <a:xfrm>
            <a:off x="4849586" y="55680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07F9CB8-4A71-B8AE-70AC-6756A00AA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7" y="1485900"/>
            <a:ext cx="10992975" cy="150222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Stakeholders were identified and </a:t>
            </a:r>
            <a:r>
              <a:rPr lang="en-US" dirty="0" err="1"/>
              <a:t>categorised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System concept was defined in which </a:t>
            </a:r>
            <a:r>
              <a:rPr lang="en-US" dirty="0" err="1"/>
              <a:t>NSoI</a:t>
            </a:r>
            <a:r>
              <a:rPr lang="en-US" dirty="0"/>
              <a:t> and </a:t>
            </a:r>
            <a:r>
              <a:rPr lang="en-US" dirty="0" err="1"/>
              <a:t>WSoI</a:t>
            </a:r>
            <a:r>
              <a:rPr lang="en-US" dirty="0"/>
              <a:t> were identified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 independent parameters were defined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2396C8-D55D-3C13-0444-D2364349AA57}"/>
              </a:ext>
            </a:extLst>
          </p:cNvPr>
          <p:cNvSpPr txBox="1"/>
          <p:nvPr/>
        </p:nvSpPr>
        <p:spPr>
          <a:xfrm>
            <a:off x="518669" y="2988129"/>
            <a:ext cx="5577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Functional Requirements</a:t>
            </a:r>
            <a:endParaRPr lang="en-ZA" sz="2800" dirty="0">
              <a:solidFill>
                <a:srgbClr val="B79962"/>
              </a:solidFill>
              <a:latin typeface="Trebuchet MS" panose="020B0603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5CBC9D-5103-EFCE-B30A-4A631A67C3D1}"/>
              </a:ext>
            </a:extLst>
          </p:cNvPr>
          <p:cNvSpPr txBox="1"/>
          <p:nvPr/>
        </p:nvSpPr>
        <p:spPr>
          <a:xfrm>
            <a:off x="5934311" y="2988129"/>
            <a:ext cx="5577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Technical Performance Measures</a:t>
            </a:r>
            <a:endParaRPr lang="en-ZA" sz="2800" dirty="0">
              <a:solidFill>
                <a:srgbClr val="B79962"/>
              </a:solidFill>
              <a:latin typeface="Trebuchet MS" panose="020B0603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A7C050C-EB28-50C7-2B0F-5D4EA7DC8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6" y="3557987"/>
            <a:ext cx="4739133" cy="29938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F42980-7013-781D-BAD0-44E96921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206" y="3869872"/>
            <a:ext cx="5819128" cy="15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29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C0E2-9A56-8D87-19CA-92DE0ADB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068DAB-204A-D3A0-046B-B8A0EB8B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  <a:endParaRPr lang="en-Z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4D1DD4-3298-92B0-D286-6AB4BC73A7F6}"/>
              </a:ext>
            </a:extLst>
          </p:cNvPr>
          <p:cNvSpPr txBox="1"/>
          <p:nvPr/>
        </p:nvSpPr>
        <p:spPr>
          <a:xfrm>
            <a:off x="4849586" y="55680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DD4949B-C052-D318-52C0-44EC42CA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284" y="1541654"/>
            <a:ext cx="6560633" cy="508225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Generalised</a:t>
            </a:r>
            <a:r>
              <a:rPr lang="en-US" dirty="0"/>
              <a:t> D-H model samples workspace and determines uncertainty in workspace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Worst-case uncertainty value of 0.0743 was determined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Uncertainty value was used to scale target encoder uncertainty (50 microns)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Encoder uncertainty was used to calculate encoder resolution of ~80 000 PPR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Encoder resolution was used to calculate shaft radius of ~19 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Shaft radius was used to calculate run-out tolerance of ~1.449 microns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F7DDE6-FC5B-70BB-197D-83837C0E87A9}"/>
              </a:ext>
            </a:extLst>
          </p:cNvPr>
          <p:cNvSpPr txBox="1"/>
          <p:nvPr/>
        </p:nvSpPr>
        <p:spPr>
          <a:xfrm>
            <a:off x="518668" y="754435"/>
            <a:ext cx="5577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TPM Derivation – D-H Model</a:t>
            </a:r>
            <a:endParaRPr lang="en-ZA" sz="2800" dirty="0">
              <a:solidFill>
                <a:srgbClr val="B79962"/>
              </a:solidFill>
              <a:latin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A85DA-624A-EA50-DB66-FC34FFDD5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83" y="2656182"/>
            <a:ext cx="4906175" cy="273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77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BCBFE-B62D-A355-7ACB-65EACE4B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4C1115-DF82-166A-307E-4E744132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  <a:endParaRPr lang="en-Z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E4207-4392-961C-0D0A-B47EA73AB53E}"/>
              </a:ext>
            </a:extLst>
          </p:cNvPr>
          <p:cNvSpPr txBox="1"/>
          <p:nvPr/>
        </p:nvSpPr>
        <p:spPr>
          <a:xfrm>
            <a:off x="4849586" y="55680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DB7ACFE-0AFE-21AE-8585-158DD8B49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9" y="1465447"/>
            <a:ext cx="11372248" cy="306227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an encoder of 1000 PPR was attainable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Encoder resolution was used to calculate shaft radius of ~9 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Shaft radius was used to calculate run-out tolerance of ~13.71 microns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Rest of TPM derivations were identical based of off link mass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Assumed link mass is 1.5 kg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/>
              <a:t>With safety factor of 1.5, holding torque was calculated to be 7.725 Nm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36DFFE-F2E9-9FD7-9CEB-781B0AC5B90B}"/>
              </a:ext>
            </a:extLst>
          </p:cNvPr>
          <p:cNvSpPr txBox="1"/>
          <p:nvPr/>
        </p:nvSpPr>
        <p:spPr>
          <a:xfrm>
            <a:off x="518668" y="754435"/>
            <a:ext cx="9383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TPM Derivation – Market availability and Cost Constraints</a:t>
            </a:r>
            <a:endParaRPr lang="en-ZA" sz="2800" dirty="0">
              <a:solidFill>
                <a:srgbClr val="B79962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55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B87FA87B-A138-E389-4DA5-8BD4C294013F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tretch>
            <a:fillRect/>
          </a:stretch>
        </p:blipFill>
        <p:spPr>
          <a:xfrm>
            <a:off x="7872714" y="2118903"/>
            <a:ext cx="4070241" cy="220043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C5ADE0-4797-3345-98D1-8EFBAE293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Electromagnetic Brake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0A16646-7E7D-4734-AB80-BB10298D63F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4510637" y="2093513"/>
            <a:ext cx="3131343" cy="363821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4F83C1B-4ADF-2548-B4EC-594017419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Counterbalance Spring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830CF0-9F6D-0807-6DFA-3128BE2CE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0694" y="2118904"/>
            <a:ext cx="3939208" cy="198941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86A81-3600-FC4A-AFE4-1E57050FF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Locking Dial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F9A8BC-477C-8443-BCD2-429425A459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666" y="229952"/>
            <a:ext cx="11122471" cy="1060426"/>
          </a:xfrm>
        </p:spPr>
        <p:txBody>
          <a:bodyPr/>
          <a:lstStyle/>
          <a:p>
            <a:r>
              <a:rPr lang="en-GB" dirty="0"/>
              <a:t>Concept Development</a:t>
            </a:r>
          </a:p>
        </p:txBody>
      </p:sp>
    </p:spTree>
    <p:extLst>
      <p:ext uri="{BB962C8B-B14F-4D97-AF65-F5344CB8AC3E}">
        <p14:creationId xmlns:p14="http://schemas.microsoft.com/office/powerpoint/2010/main" val="3835507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6024-CDDB-D916-EB15-B1399633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0D905BD-189E-45E0-EB54-59B26EBB3A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361823" y="2891199"/>
            <a:ext cx="6272630" cy="229108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Best capability for position-holding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Does not inhibit the joint’s range motion</a:t>
            </a:r>
          </a:p>
          <a:p>
            <a:pPr marL="1028700" lvl="1" indent="-342900"/>
            <a:r>
              <a:rPr lang="en-GB" dirty="0"/>
              <a:t>Design is integrated with joint shaft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Provides the best positional stability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166AAA-5554-6438-40B0-1E49DE30BCB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tretch>
            <a:fillRect/>
          </a:stretch>
        </p:blipFill>
        <p:spPr>
          <a:xfrm>
            <a:off x="2495551" y="2093913"/>
            <a:ext cx="2689265" cy="1942828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72C68AE-4475-855A-FD4D-AF8AEE558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7426" y="2093913"/>
            <a:ext cx="1611118" cy="440372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59B1CE-7F87-B0A8-77DF-7AFECDF45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66" y="1382145"/>
            <a:ext cx="11122471" cy="644993"/>
          </a:xfrm>
        </p:spPr>
        <p:txBody>
          <a:bodyPr/>
          <a:lstStyle/>
          <a:p>
            <a:r>
              <a:rPr lang="en-GB" dirty="0"/>
              <a:t>Chosen Concept: Electromagnetic Brake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51A6B2-8664-F5C8-2F5D-D8DAA9DECD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666" y="229952"/>
            <a:ext cx="11122471" cy="1060426"/>
          </a:xfrm>
        </p:spPr>
        <p:txBody>
          <a:bodyPr/>
          <a:lstStyle/>
          <a:p>
            <a:r>
              <a:rPr lang="en-GB" dirty="0"/>
              <a:t>Concept Development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C4E04-2E6C-D84E-5493-B6B670502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2495551" y="4199754"/>
            <a:ext cx="2695951" cy="22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5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4C191-6DDC-6D47-80A3-E54E370AE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0" y="2097153"/>
            <a:ext cx="6256338" cy="31662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Manufacturing of key joint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Experimentation</a:t>
            </a:r>
          </a:p>
          <a:p>
            <a:pPr marL="1028700" lvl="1" indent="-342900"/>
            <a:r>
              <a:rPr lang="en-GB" dirty="0"/>
              <a:t>Testing key joint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Documentation of experimentation results and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Further documentation of final report and presentation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083D2A-0125-C74D-9F1E-F253E0B4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Next</a:t>
            </a:r>
          </a:p>
        </p:txBody>
      </p:sp>
    </p:spTree>
    <p:extLst>
      <p:ext uri="{BB962C8B-B14F-4D97-AF65-F5344CB8AC3E}">
        <p14:creationId xmlns:p14="http://schemas.microsoft.com/office/powerpoint/2010/main" val="225255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by ...">
            <a:extLst>
              <a:ext uri="{FF2B5EF4-FFF2-40B4-BE49-F238E27FC236}">
                <a16:creationId xmlns:a16="http://schemas.microsoft.com/office/drawing/2014/main" id="{B771A239-7A8C-2444-AA6D-1DEFD6A71A75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9" name="Round Single Corner of Rectangle ">
            <a:extLst>
              <a:ext uri="{FF2B5EF4-FFF2-40B4-BE49-F238E27FC236}">
                <a16:creationId xmlns:a16="http://schemas.microsoft.com/office/drawing/2014/main" id="{637AB9BF-A159-4053-8684-E379311457FE}"/>
              </a:ext>
            </a:extLst>
          </p:cNvPr>
          <p:cNvSpPr/>
          <p:nvPr/>
        </p:nvSpPr>
        <p:spPr>
          <a:xfrm rot="5400000">
            <a:off x="842973" y="1069579"/>
            <a:ext cx="1942572" cy="3101468"/>
          </a:xfrm>
          <a:prstGeom prst="round1Rect">
            <a:avLst/>
          </a:prstGeom>
          <a:solidFill>
            <a:srgbClr val="4D53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2B123C5-14C9-4D60-AFF2-EAA16BE09BBD}"/>
              </a:ext>
            </a:extLst>
          </p:cNvPr>
          <p:cNvSpPr txBox="1"/>
          <p:nvPr/>
        </p:nvSpPr>
        <p:spPr>
          <a:xfrm>
            <a:off x="534088" y="1870249"/>
            <a:ext cx="2708645" cy="163121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Thank you</a:t>
            </a: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Enkosi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Dankie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70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16B6E-A21E-407C-BDDF-C737BEB85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a3d677-9216-46c3-8201-ee58da5def3b"/>
    <ds:schemaRef ds:uri="dffefaba-9bcc-430d-9abe-09565c10f6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5B3F05-4C73-4E81-8633-DC6293C95FE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406BB9A-01F9-409F-96E5-4526919791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38281</TotalTime>
  <Words>477</Words>
  <Application>Microsoft Office PowerPoint</Application>
  <PresentationFormat>Widescreen</PresentationFormat>
  <Paragraphs>71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Raleway</vt:lpstr>
      <vt:lpstr>Trebuchet MS</vt:lpstr>
      <vt:lpstr>Office Theme</vt:lpstr>
      <vt:lpstr>PowerPoint Presentation</vt:lpstr>
      <vt:lpstr>Introduction</vt:lpstr>
      <vt:lpstr>Introduction</vt:lpstr>
      <vt:lpstr>Requirement Analysis</vt:lpstr>
      <vt:lpstr>Requirement Analysis</vt:lpstr>
      <vt:lpstr>Requirement Analysis</vt:lpstr>
      <vt:lpstr>PowerPoint Presentation</vt:lpstr>
      <vt:lpstr>PowerPoint Presentation</vt:lpstr>
      <vt:lpstr>What’s Next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Matota, LN, Miss [24989142@sun.ac.za]</cp:lastModifiedBy>
  <cp:revision>687</cp:revision>
  <dcterms:created xsi:type="dcterms:W3CDTF">2021-09-15T08:20:16Z</dcterms:created>
  <dcterms:modified xsi:type="dcterms:W3CDTF">2026-08-06T22:58:44Z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